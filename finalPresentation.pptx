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8" r:id="rId5"/>
    <p:sldId id="269" r:id="rId6"/>
    <p:sldId id="275" r:id="rId7"/>
    <p:sldId id="277" r:id="rId8"/>
    <p:sldId id="276" r:id="rId9"/>
    <p:sldId id="265" r:id="rId10"/>
    <p:sldId id="279" r:id="rId11"/>
    <p:sldId id="261" r:id="rId12"/>
    <p:sldId id="278" r:id="rId13"/>
    <p:sldId id="263" r:id="rId14"/>
    <p:sldId id="280" r:id="rId15"/>
    <p:sldId id="270" r:id="rId16"/>
    <p:sldId id="264" r:id="rId17"/>
    <p:sldId id="282" r:id="rId18"/>
    <p:sldId id="281" r:id="rId19"/>
    <p:sldId id="283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70"/>
    <p:restoredTop sz="94781"/>
  </p:normalViewPr>
  <p:slideViewPr>
    <p:cSldViewPr snapToGrid="0">
      <p:cViewPr>
        <p:scale>
          <a:sx n="75" d="100"/>
          <a:sy n="75" d="100"/>
        </p:scale>
        <p:origin x="52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A1CB4-E228-F244-BE9B-269DEE17E11B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8AF86-8FD3-9740-9596-07CDA1C9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01F86-1114-8C89-E8E2-69D145D85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7A460-D138-B107-9D7C-D8D21C35F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1C529-0FF6-EC16-8C05-0EDEE193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F1EA-2999-5F43-9552-F76C496C34F0}" type="datetime1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ECD5A-3FF2-E417-7BF6-E19208FF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9B2C-F630-B940-781D-3A1CF13F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5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4E08-684E-567E-95EC-BAF17BC6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70B9-200D-5E27-98FE-9FC2D07B8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D504B-1237-474C-B0F8-EC58DA89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FDC6C-7228-5746-8FFD-267DE1B7109A}" type="datetime1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AAB7D-446E-7FC1-A85F-779F8A7C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1DF42-6532-E25C-19F7-74BF398F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0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7C5EB-A7DD-091C-72D1-C512D5AC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5852F-56B5-A439-FF5B-FC67808D8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42AB-0292-0561-8408-AAD7F95C6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9A9AF-E67C-D44F-BEAA-D3E3ABFBF44F}" type="datetime1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5FBAE-F0DA-2E8A-7A3C-D80A1887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F480B-6A69-B6F2-5799-A47D86B9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1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5C83-4422-FD60-29D0-F5E43462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41AB3-643F-8CB9-D7FF-23BBAE57B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94012-8DD5-0B64-6193-FA961B2F1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13D0F-BA37-87AF-AAB6-D269F89B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AFC9-DC6C-E541-BCCB-BD389B0D7418}" type="datetime1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90405-579B-8B5E-E841-ADAC83235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02D44-07ED-85C3-66FE-C0D41E10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7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9338-4EFC-44FC-8474-CA191BC9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68D9F-4F89-22ED-CC3C-EA6C4836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876FC-CE5A-AE74-43AA-119B80E62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7C435-58A3-2594-1774-11CA5B74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41F08-C940-663A-C587-DA292083B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B9BD4-1805-FD13-DAF9-47425F82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D36-67EC-5C49-A89D-13C752A6C7F7}" type="datetime1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96A46F-639B-9117-2804-402ECA71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FE6F1F-F674-A775-6964-D7104B54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5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F0982-D9AE-ACD4-E994-7D6B9AA9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80B5A-324B-987F-29C3-3C20A9D7B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4B3D1-35C0-F24D-96D7-C0C3F93A5662}" type="datetime1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B5782-E354-D4E5-85DD-93A70C07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5287-917D-547D-DD6B-A001D5AF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2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31DF5-C48D-B408-D12F-39B6F195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4181-22C2-2F4B-A74C-EEBC29BFF6F3}" type="datetime1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3E2E2C-8FAC-0A20-F26B-97C6A12A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8D466-B436-B8F2-5C42-145769989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0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90674-D7CB-2C8F-2E44-D04954DF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07A86-E7A7-DE8B-2CF5-8476D0FE9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BE930-6931-2324-F4C7-D0347AA29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A0FA2-1B1F-FEFF-8329-EEAEA2F4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85612-040F-F641-A707-BA7790F80F9D}" type="datetime1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CF6BE-333A-AC68-F87B-4F055EFE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B4E7E-4B88-80AD-A5BB-F9B41912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87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A5BA-0FEE-CB39-B820-66560463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48F15-7EC0-CB58-5878-8EEE5C6C6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E104E-0148-123B-D69A-CDC3C122B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48AE9-1116-A7F8-F2DD-E7B282458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2129-0C34-B74F-B6B9-A02DABD4E740}" type="datetime1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88816-708F-264B-2717-C274A854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460A9-33E9-9844-2AE2-4904B3BC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07D3-320A-B757-C7A6-D03EAD89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A5DDF-5A83-93DB-C26D-367673786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6BBA6-1775-4B79-9B26-F477EF1B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1A07-5E2F-C641-A0EB-E2865C3F4522}" type="datetime1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7940-5C60-A302-5493-4B06D6AD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BBD0B-D42E-3D0B-1A53-8D0ADF9E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28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56550-E519-40A3-C4E9-DD5C8F9FF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702B1-B37B-E749-A256-F88DBE3D1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45B03-C1B7-48B5-8173-D7A44912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7DDE-E2A0-FC48-8A2D-72B59F3C36B9}" type="datetime1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58CB8-0A6A-91B6-9F14-A8DFADE7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2B625-A034-D787-0F27-8BCB33E0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2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82979-C55E-A0FD-FEE6-58D789B3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48B65-29D2-CE81-6355-36A67BE4D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E2AA2-CC5F-38C6-E386-206BDE9B4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5D3DD-6AFD-6146-BAF6-4A8E3944F5F7}" type="datetime1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77EAB-6222-5534-3E48-C1A04BB70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016B6-BDB8-AFBB-E4CB-3A295154B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27D07-968E-7842-9DA2-F4B716FD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emusc@b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mets.org/sites/default/files/hist14.pdf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www.britannica.com/biography/Robert-Alexander-Watson-Watt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adartutorial.eu/19.kartei/11.ancient2/karte019.en.html" TargetMode="External"/><Relationship Id="rId3" Type="http://schemas.openxmlformats.org/officeDocument/2006/relationships/image" Target="../media/image5.jpeg"/><Relationship Id="rId7" Type="http://schemas.openxmlformats.org/officeDocument/2006/relationships/image" Target="../media/image7.jpeg"/><Relationship Id="rId12" Type="http://schemas.openxmlformats.org/officeDocument/2006/relationships/hyperlink" Target="https://www.weather.gov/iwx/wsr_88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adartutorial.eu/19.kartei/11.ancient3/karte053.en.html" TargetMode="External"/><Relationship Id="rId11" Type="http://schemas.openxmlformats.org/officeDocument/2006/relationships/image" Target="../media/image9.jpeg"/><Relationship Id="rId5" Type="http://schemas.openxmlformats.org/officeDocument/2006/relationships/image" Target="../media/image6.jpeg"/><Relationship Id="rId10" Type="http://schemas.openxmlformats.org/officeDocument/2006/relationships/hyperlink" Target="https://www.radartutorial.eu/19.kartei/11.ancient2/karte018.en.html" TargetMode="External"/><Relationship Id="rId4" Type="http://schemas.openxmlformats.org/officeDocument/2006/relationships/hyperlink" Target="https://www.radartutorial.eu/19.kartei/11.ancient5/karte051.en.html" TargetMode="External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eather.gov/nl2/NEXRADVie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markimicrowave.com/tools/return-loss-to-vswr.pdf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s://www.analog.com/en/resources/glossary/vswr.html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A138-54D7-85D2-FA00-86118167C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538" y="1122363"/>
            <a:ext cx="9290462" cy="2387600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Horus: A Fully-Digital Dual-Polarimetric Phased Array Radar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F3B9A-32D1-2BBA-ED86-5B25042E3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EC707: Radar Remote Sensing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Department of Electrical and Computer Engineering</a:t>
            </a:r>
          </a:p>
          <a:p>
            <a:pPr marL="228600" indent="-228600" algn="l">
              <a:lnSpc>
                <a:spcPct val="100000"/>
              </a:lnSpc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Christopher Lemus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  <a:hlinkClick r:id="rId2"/>
              </a:rPr>
              <a:t>lemusc@bu.edu</a:t>
            </a:r>
            <a:endParaRPr lang="en-US" sz="2400" dirty="0">
              <a:solidFill>
                <a:schemeClr val="tx2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April </a:t>
            </a:r>
            <a:r>
              <a:rPr lang="en-US" dirty="0">
                <a:solidFill>
                  <a:schemeClr val="tx2"/>
                </a:solidFill>
              </a:rPr>
              <a:t>30</a:t>
            </a:r>
            <a:r>
              <a:rPr lang="en-US" sz="2400" dirty="0">
                <a:solidFill>
                  <a:schemeClr val="tx2"/>
                </a:solidFill>
              </a:rPr>
              <a:t>, 2026</a:t>
            </a:r>
          </a:p>
          <a:p>
            <a:endParaRPr lang="en-US" dirty="0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5837446F-10F9-4CF4-28D2-21F36C8C3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B0A09-B615-7F89-58E4-95BA9468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1A43-17E5-8058-21EC-A539336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Motivation &amp;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0ECD9-F148-DB71-8A41-B3D6303F6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Motive – Justify why this class of radar can be the successor to Weather Surveillance Radar –1988 Doppler class (WSD-88D) in NEXRAD network</a:t>
            </a:r>
          </a:p>
          <a:p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h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istory </a:t>
            </a: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Horus overview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design specs through simulation</a:t>
            </a: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claims of expansion</a:t>
            </a: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Closing remarks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F5137-90CC-C43E-62BB-84315145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E1655DAF-B829-C4CB-606F-C2767204A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5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4BFCE-B2CD-C765-D360-D16E93A9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D2B7-425B-77FE-C1A6-71E055C5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Origins of WSRs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37E4C-2DFE-450E-BD33-0E056B1FE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7201" cy="435133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Scottish physicist &amp; meteorologist (1892-1973) played major role in radar development in the United Kingdom pre-WWII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1940, GE operated a 10 cm wave radar that would return reflections thought to be false target returns</a:t>
            </a:r>
          </a:p>
          <a:p>
            <a:pPr lvl="1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Asked Dr. J. W. Ryde to report attenuation and </a:t>
            </a:r>
            <a:r>
              <a:rPr lang="en-US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backscatting</a:t>
            </a: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properties of clouds &amp; rain to characterize the clutter returns they were observing</a:t>
            </a:r>
          </a:p>
          <a:p>
            <a:pPr lvl="1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work done by Arthur E. Bent at MIT and characterized using 3 cm – 10 cm waves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C3EC7-669B-1AB0-DFD7-D7AE0CC3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559F8763-4C72-C776-A6B2-F28835E15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1026" name="Picture 2" descr="Watson-Watt, Sir Robert">
            <a:extLst>
              <a:ext uri="{FF2B5EF4-FFF2-40B4-BE49-F238E27FC236}">
                <a16:creationId xmlns:a16="http://schemas.microsoft.com/office/drawing/2014/main" id="{FBFEA3A8-ED7C-743A-A5ED-894D08687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16" y="4213251"/>
            <a:ext cx="2220671" cy="166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57980-9A33-0E71-2D75-A3922BCC588B}"/>
              </a:ext>
            </a:extLst>
          </p:cNvPr>
          <p:cNvSpPr txBox="1"/>
          <p:nvPr/>
        </p:nvSpPr>
        <p:spPr>
          <a:xfrm>
            <a:off x="705092" y="5961871"/>
            <a:ext cx="32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solidFill>
                  <a:srgbClr val="1A1A1A"/>
                </a:solidFill>
                <a:effectLst/>
                <a:latin typeface="Georgia" panose="02040502050405020303" pitchFamily="18" charset="0"/>
                <a:hlinkClick r:id="rId4"/>
              </a:rPr>
              <a:t>Sir Robert Alexander Watson-Watt</a:t>
            </a:r>
            <a:endParaRPr lang="en-US" sz="1200" dirty="0"/>
          </a:p>
        </p:txBody>
      </p:sp>
      <p:pic>
        <p:nvPicPr>
          <p:cNvPr id="8" name="Picture 7" descr="A close-up of a person&#10;&#10;Description automatically generated">
            <a:extLst>
              <a:ext uri="{FF2B5EF4-FFF2-40B4-BE49-F238E27FC236}">
                <a16:creationId xmlns:a16="http://schemas.microsoft.com/office/drawing/2014/main" id="{5F1BB2BD-5A63-2259-E560-51392CB74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629" y="3962280"/>
            <a:ext cx="1507480" cy="19995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ECC67D-B1D9-53C5-136A-5F4AE6281CBF}"/>
              </a:ext>
            </a:extLst>
          </p:cNvPr>
          <p:cNvSpPr txBox="1"/>
          <p:nvPr/>
        </p:nvSpPr>
        <p:spPr>
          <a:xfrm>
            <a:off x="3863629" y="5961870"/>
            <a:ext cx="32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solidFill>
                  <a:srgbClr val="1A1A1A"/>
                </a:solidFill>
                <a:effectLst/>
                <a:latin typeface="Georgia" panose="02040502050405020303" pitchFamily="18" charset="0"/>
                <a:hlinkClick r:id="rId6"/>
              </a:rPr>
              <a:t>Dr. J. W. Ryde</a:t>
            </a:r>
            <a:endParaRPr lang="en-US" sz="1200" dirty="0"/>
          </a:p>
        </p:txBody>
      </p:sp>
      <p:pic>
        <p:nvPicPr>
          <p:cNvPr id="11" name="Picture 10" descr="A text on a white background&#10;&#10;Description automatically generated">
            <a:extLst>
              <a:ext uri="{FF2B5EF4-FFF2-40B4-BE49-F238E27FC236}">
                <a16:creationId xmlns:a16="http://schemas.microsoft.com/office/drawing/2014/main" id="{9C575407-3163-4757-4119-8670FE76EB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718" y="3962280"/>
            <a:ext cx="4697763" cy="16277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0D546E-CA10-DAF1-483E-099C0808BF09}"/>
              </a:ext>
            </a:extLst>
          </p:cNvPr>
          <p:cNvSpPr txBox="1"/>
          <p:nvPr/>
        </p:nvSpPr>
        <p:spPr>
          <a:xfrm>
            <a:off x="6412999" y="5961869"/>
            <a:ext cx="32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Georgia" panose="02040502050405020303" pitchFamily="18" charset="0"/>
              </a:rPr>
              <a:t>From </a:t>
            </a:r>
            <a:r>
              <a:rPr lang="en-US" sz="1200" dirty="0">
                <a:effectLst/>
              </a:rPr>
              <a:t>Radar detection of precipitation [3]</a:t>
            </a:r>
            <a:r>
              <a:rPr lang="en-US" sz="1200" b="1" dirty="0">
                <a:solidFill>
                  <a:srgbClr val="1A1A1A"/>
                </a:solidFill>
                <a:latin typeface="Georgia" panose="02040502050405020303" pitchFamily="18" charset="0"/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5107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9E35-B0C0-21ED-2FBB-DACCC3C6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0167-EEDD-57A8-44F5-9AF6AF12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Post WWII to Present WSRs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0077-C428-F314-0127-741762FF1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1945, while development of strict weather radars under weigh, standard military issued radars deployed [1, pg. 222]</a:t>
            </a:r>
          </a:p>
          <a:p>
            <a:pPr lvl="1"/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AN/APQ-13 and AN/APS-10 (Airborne Pulse Search/Bombing Gunnery, Airborne Pulse Search)</a:t>
            </a:r>
          </a:p>
          <a:p>
            <a:pPr lvl="1"/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 in operation around the world</a:t>
            </a:r>
          </a:p>
          <a:p>
            <a:pPr lvl="1"/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1977 the last AN/APQ-13 was decommissioned from Fort Sill, OK. Go see it at the Air Force Museum @ Wright-Patterson AFB, Ohio (: </a:t>
            </a:r>
          </a:p>
          <a:p>
            <a:pPr lvl="1"/>
            <a:endParaRPr lang="en-US" sz="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1946, NWS also received 25 AN/APS-2F radars from AF for free (maybe free) </a:t>
            </a:r>
          </a:p>
          <a:p>
            <a:pPr lvl="1"/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 rate of 5 radars per year, these S band radars were upgraded  for meteorological use and fielded, then named WSR-1, so on</a:t>
            </a:r>
          </a:p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1954, first dedicated weather radar delivered. CPS-9</a:t>
            </a:r>
          </a:p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1957 WSR-57,  1976 WSR-74C/S, 1988 WSR-88D </a:t>
            </a:r>
          </a:p>
          <a:p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6D05C-FAEC-E4B3-36EB-63EF054E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3AB16815-8E20-2B87-5CB9-2D1BC70DA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D5DC30B-1AA0-91DD-E835-06A4EC9DB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864" y="4798613"/>
            <a:ext cx="2317595" cy="17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9D7876-92C8-979A-7315-144E5E471FB7}"/>
              </a:ext>
            </a:extLst>
          </p:cNvPr>
          <p:cNvSpPr txBox="1"/>
          <p:nvPr/>
        </p:nvSpPr>
        <p:spPr>
          <a:xfrm>
            <a:off x="3007176" y="6488668"/>
            <a:ext cx="225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AN/APS-10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F52358A-ABE8-F667-3CF2-024AFD7EF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12" y="4798613"/>
            <a:ext cx="2317594" cy="17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9B04A4-C337-A110-EF20-4F87FFF11A3F}"/>
              </a:ext>
            </a:extLst>
          </p:cNvPr>
          <p:cNvSpPr txBox="1"/>
          <p:nvPr/>
        </p:nvSpPr>
        <p:spPr>
          <a:xfrm>
            <a:off x="571024" y="6492875"/>
            <a:ext cx="225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6"/>
              </a:rPr>
              <a:t>AN/APQ-13</a:t>
            </a:r>
            <a:endParaRPr 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2C557B7-B42D-5E6A-53D0-456B25199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771" y="4781055"/>
            <a:ext cx="2317595" cy="175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9EE4E2-90D8-FC8A-28A3-A8D57CCA41A4}"/>
              </a:ext>
            </a:extLst>
          </p:cNvPr>
          <p:cNvSpPr txBox="1"/>
          <p:nvPr/>
        </p:nvSpPr>
        <p:spPr>
          <a:xfrm>
            <a:off x="5306800" y="6488668"/>
            <a:ext cx="225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8"/>
              </a:rPr>
              <a:t>AN/CPS-9</a:t>
            </a:r>
            <a:endParaRPr lang="en-US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3B11B600-A533-3BDC-FE6E-0F5FF46D3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678" y="4131539"/>
            <a:ext cx="1850208" cy="240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D5194-A60E-8F23-CA38-0F93FB8E91B0}"/>
              </a:ext>
            </a:extLst>
          </p:cNvPr>
          <p:cNvSpPr txBox="1"/>
          <p:nvPr/>
        </p:nvSpPr>
        <p:spPr>
          <a:xfrm>
            <a:off x="7642366" y="6536809"/>
            <a:ext cx="225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10"/>
              </a:rPr>
              <a:t>WSR-57</a:t>
            </a:r>
            <a:endParaRPr lang="en-US" dirty="0"/>
          </a:p>
        </p:txBody>
      </p:sp>
      <p:pic>
        <p:nvPicPr>
          <p:cNvPr id="2058" name="Picture 10" descr="Doppler radar dome in the background">
            <a:extLst>
              <a:ext uri="{FF2B5EF4-FFF2-40B4-BE49-F238E27FC236}">
                <a16:creationId xmlns:a16="http://schemas.microsoft.com/office/drawing/2014/main" id="{854C55F0-3F2F-48B6-C550-AF0C10318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678" y="3906425"/>
            <a:ext cx="1573968" cy="263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89B906-AEA3-64A5-645C-BD2AFD5AE250}"/>
              </a:ext>
            </a:extLst>
          </p:cNvPr>
          <p:cNvSpPr txBox="1"/>
          <p:nvPr/>
        </p:nvSpPr>
        <p:spPr>
          <a:xfrm>
            <a:off x="9553681" y="6527323"/>
            <a:ext cx="225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12"/>
              </a:rPr>
              <a:t>WSR-88D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2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47E33-A581-AEE1-519D-AA981109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9C0A3-6FF2-7AC0-D7EA-D0AA367E3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NEXRAD Network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264BA-C7BF-5D79-FF88-B10E61EF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4B32E9D8-E2D5-9E50-324E-05F0C3045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5" name="Content Placeholder 4" descr="A map of the united states with green dots&#10;&#10;Description automatically generated">
            <a:extLst>
              <a:ext uri="{FF2B5EF4-FFF2-40B4-BE49-F238E27FC236}">
                <a16:creationId xmlns:a16="http://schemas.microsoft.com/office/drawing/2014/main" id="{BDF3799C-8560-CCEE-9265-3989AF038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59706" y="1825625"/>
            <a:ext cx="9072588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59F83F-ECA1-7D83-5168-2E231C64384D}"/>
              </a:ext>
            </a:extLst>
          </p:cNvPr>
          <p:cNvSpPr txBox="1"/>
          <p:nvPr/>
        </p:nvSpPr>
        <p:spPr>
          <a:xfrm>
            <a:off x="3847211" y="6308209"/>
            <a:ext cx="4497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https://www.weather.gov/nl2/NEXRADView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8925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DAE1-EA54-9010-F111-C1E1E9B4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ntent Placeholder 30" descr="A large truck with a large box on the back&#10;&#10;Description automatically generated">
            <a:extLst>
              <a:ext uri="{FF2B5EF4-FFF2-40B4-BE49-F238E27FC236}">
                <a16:creationId xmlns:a16="http://schemas.microsoft.com/office/drawing/2014/main" id="{DC7B0B85-A79F-292B-A82E-089B82BA1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48988"/>
            <a:ext cx="8801100" cy="570579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426711-ACA6-061D-AB2A-DB88613E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96" y="208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The Horus PAR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2C25A-5CFD-E0E4-D80F-C0E33744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500C6942-BDA4-4FBC-6E05-0C3A8AA21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6760CAB-E2B4-A4F2-7DD5-3252764494C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12F100-7B27-2A04-80E1-C6D8E8A70A17}"/>
              </a:ext>
            </a:extLst>
          </p:cNvPr>
          <p:cNvSpPr txBox="1"/>
          <p:nvPr/>
        </p:nvSpPr>
        <p:spPr>
          <a:xfrm>
            <a:off x="1501140" y="6554787"/>
            <a:ext cx="32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effectLst/>
                <a:latin typeface="NimbusRomNo9L"/>
              </a:rPr>
              <a:t>HORUS—A FULLY DIGITAL POLARIMETRIC PAR  </a:t>
            </a:r>
            <a:r>
              <a:rPr lang="en-US" sz="1200" dirty="0">
                <a:effectLst/>
                <a:latin typeface="NimbusRomNo9L"/>
              </a:rPr>
              <a:t>[4]</a:t>
            </a:r>
            <a:endParaRPr lang="en-US" sz="1000" dirty="0"/>
          </a:p>
        </p:txBody>
      </p:sp>
      <p:pic>
        <p:nvPicPr>
          <p:cNvPr id="33" name="Picture 32" descr="A table with information and text&#10;&#10;Description automatically generated">
            <a:extLst>
              <a:ext uri="{FF2B5EF4-FFF2-40B4-BE49-F238E27FC236}">
                <a16:creationId xmlns:a16="http://schemas.microsoft.com/office/drawing/2014/main" id="{95BB1F0F-78E6-2BBD-6F11-B5DE3C96D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1672587"/>
            <a:ext cx="38862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4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55DC-043A-28D6-A048-9FD24ED7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445C-6E2D-7268-3591-1B1CCE0DE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Horus PAR Pros &amp; Cons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7D93B-BA3D-6317-70C4-F62A125B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E54794E4-77A2-682C-D8D7-150C338C0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13" name="Content Placeholder 12" descr="A graph of a graph showing a spectrum of colors&#10;&#10;Description automatically generated with medium confidence">
            <a:extLst>
              <a:ext uri="{FF2B5EF4-FFF2-40B4-BE49-F238E27FC236}">
                <a16:creationId xmlns:a16="http://schemas.microsoft.com/office/drawing/2014/main" id="{F25FA398-3B39-A39B-1D50-6914FAF31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5956" y="3780601"/>
            <a:ext cx="2920088" cy="2254826"/>
          </a:xfr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5001149-B996-0B9E-75C2-D0D4EFFCD15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3BBAAB7-028E-8072-356B-F8182FF843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4F5440-93DE-9264-D6CA-22812033A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17206"/>
              </p:ext>
            </p:extLst>
          </p:nvPr>
        </p:nvGraphicFramePr>
        <p:xfrm>
          <a:off x="1417320" y="1740664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74374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92584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821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 replaceable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External generator needed for power (potential non-issue)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027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Fully digital architecture + </a:t>
                      </a:r>
                      <a:r>
                        <a:rPr lang="en-US" dirty="0" err="1"/>
                        <a:t>sw</a:t>
                      </a:r>
                      <a:r>
                        <a:rPr lang="en-US" dirty="0"/>
                        <a:t> 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calibration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453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Unique beamforming 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835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65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BAC0-E008-D867-649E-6B0C8122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D215B24B-3722-A96B-0C7C-7D4F61616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592" y="5247080"/>
            <a:ext cx="6629401" cy="12918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AC35D8-46D3-7477-4ED9-D79D4ED6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Why S-band?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7596E-20E2-D85A-51FD-363D3F19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00484584-5F09-B16D-6E56-05ECD21BA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1656A72-9DF0-8188-1EF2-B6738D4DF9D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A graph of a radio wave&#10;&#10;Description automatically generated with medium confidence">
            <a:extLst>
              <a:ext uri="{FF2B5EF4-FFF2-40B4-BE49-F238E27FC236}">
                <a16:creationId xmlns:a16="http://schemas.microsoft.com/office/drawing/2014/main" id="{38D67BC9-2E0F-6761-D5B7-79A7848381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766560" y="1519160"/>
            <a:ext cx="5224780" cy="222395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DD5E45-1602-C722-5E20-DE69CA46CE1B}"/>
              </a:ext>
            </a:extLst>
          </p:cNvPr>
          <p:cNvSpPr txBox="1"/>
          <p:nvPr/>
        </p:nvSpPr>
        <p:spPr>
          <a:xfrm>
            <a:off x="6780810" y="3922506"/>
            <a:ext cx="32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effectLst/>
                <a:latin typeface="NimbusRomNo9L"/>
              </a:rPr>
              <a:t>HORUS—A FULLY DIGITAL POLARIMETRIC PAR  </a:t>
            </a:r>
            <a:r>
              <a:rPr lang="en-US" sz="1200" dirty="0">
                <a:effectLst/>
                <a:latin typeface="NimbusRomNo9L"/>
              </a:rPr>
              <a:t>[4]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088094-3C87-19AD-3D22-01DDA798C195}"/>
              </a:ext>
            </a:extLst>
          </p:cNvPr>
          <p:cNvSpPr txBox="1"/>
          <p:nvPr/>
        </p:nvSpPr>
        <p:spPr>
          <a:xfrm>
            <a:off x="6780810" y="4199505"/>
            <a:ext cx="32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2:1 </a:t>
            </a:r>
            <a:r>
              <a:rPr lang="en-US" sz="1200" dirty="0">
                <a:hlinkClick r:id="rId5"/>
              </a:rPr>
              <a:t>VSWR</a:t>
            </a:r>
            <a:r>
              <a:rPr lang="en-US" sz="1200" dirty="0"/>
              <a:t> &amp; nice linear regime </a:t>
            </a:r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D17E42A3-A269-F852-0F67-09A10CD4EA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611441"/>
            <a:ext cx="4292600" cy="711200"/>
          </a:xfrm>
          <a:prstGeom prst="rect">
            <a:avLst/>
          </a:prstGeom>
        </p:spPr>
      </p:pic>
      <p:pic>
        <p:nvPicPr>
          <p:cNvPr id="18" name="Picture 17" descr="A graph of different weather conditions&#10;&#10;Description automatically generated">
            <a:extLst>
              <a:ext uri="{FF2B5EF4-FFF2-40B4-BE49-F238E27FC236}">
                <a16:creationId xmlns:a16="http://schemas.microsoft.com/office/drawing/2014/main" id="{1E7E4B7A-3B0E-1844-0C94-DDC8216B19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80" y="1524880"/>
            <a:ext cx="6766840" cy="27207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ADA6867-190E-5CB2-7FDB-187A39179420}"/>
              </a:ext>
            </a:extLst>
          </p:cNvPr>
          <p:cNvSpPr txBox="1"/>
          <p:nvPr/>
        </p:nvSpPr>
        <p:spPr>
          <a:xfrm>
            <a:off x="231140" y="4312281"/>
            <a:ext cx="3630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</a:rPr>
              <a:t>Attenuation correction in weather radars for snow[6]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5DD5B5-10C7-E8CD-2E65-074C3BBE986E}"/>
              </a:ext>
            </a:extLst>
          </p:cNvPr>
          <p:cNvSpPr txBox="1"/>
          <p:nvPr/>
        </p:nvSpPr>
        <p:spPr>
          <a:xfrm>
            <a:off x="6992526" y="6404233"/>
            <a:ext cx="192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8"/>
              </a:rPr>
              <a:t>Maury Microwave</a:t>
            </a:r>
            <a:endParaRPr lang="en-US" dirty="0"/>
          </a:p>
        </p:txBody>
      </p:sp>
      <p:pic>
        <p:nvPicPr>
          <p:cNvPr id="29" name="Picture 28" descr="A close-up of words&#10;&#10;Description automatically generated">
            <a:extLst>
              <a:ext uri="{FF2B5EF4-FFF2-40B4-BE49-F238E27FC236}">
                <a16:creationId xmlns:a16="http://schemas.microsoft.com/office/drawing/2014/main" id="{03F9B9F5-D2FB-99C6-5899-11C9EA961A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8696" y="5680075"/>
            <a:ext cx="37846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0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9314-6AA8-1C0D-9364-500FF814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685E-0463-BE49-B78A-CDB93036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7A87-BAB2-EB6C-1A3F-29D1F9F81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BF7B-44CC-374D-7EFC-3BB91B11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BC7D1CDF-3E53-6A75-085C-C0F3EAE34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8" name="Picture 7" descr="A close-up of a truck&#10;&#10;Description automatically generated">
            <a:extLst>
              <a:ext uri="{FF2B5EF4-FFF2-40B4-BE49-F238E27FC236}">
                <a16:creationId xmlns:a16="http://schemas.microsoft.com/office/drawing/2014/main" id="{90C86707-B748-4BA9-C1AF-BF7E3F672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29890"/>
            <a:ext cx="9789160" cy="51073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22DD9F-F6A2-6412-145D-68BCC63E9B0C}"/>
              </a:ext>
            </a:extLst>
          </p:cNvPr>
          <p:cNvSpPr txBox="1"/>
          <p:nvPr/>
        </p:nvSpPr>
        <p:spPr>
          <a:xfrm>
            <a:off x="838200" y="6323816"/>
            <a:ext cx="32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effectLst/>
                <a:latin typeface="NimbusRomNo9L"/>
              </a:rPr>
              <a:t>HORUS—A FULLY DIGITAL POLARIMETRIC PAR  </a:t>
            </a:r>
            <a:r>
              <a:rPr lang="en-US" sz="1200" dirty="0">
                <a:effectLst/>
                <a:latin typeface="NimbusRomNo9L"/>
              </a:rPr>
              <a:t>[4]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6728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32F4-6E51-5295-3B0D-0DBD13C0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C83F-3D5C-09F4-7794-E4D84CC73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Subsystem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F15C9-1C0F-326D-B94D-24D38B5DE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6F6E4-27B3-4E91-252C-D16E1EA2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CFE4DE9F-21C9-A9E5-C4BC-9859FC238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7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id="{D65BCECA-3E60-30B9-BBBD-1C5D28369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50" y="1129890"/>
            <a:ext cx="9023350" cy="54322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B494C7-F9A9-96E5-8B6E-D32E1A55BE09}"/>
              </a:ext>
            </a:extLst>
          </p:cNvPr>
          <p:cNvSpPr txBox="1"/>
          <p:nvPr/>
        </p:nvSpPr>
        <p:spPr>
          <a:xfrm>
            <a:off x="1035050" y="6562181"/>
            <a:ext cx="32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effectLst/>
                <a:latin typeface="NimbusRomNo9L"/>
              </a:rPr>
              <a:t>HORUS—A FULLY DIGITAL POLARIMETRIC PAR  </a:t>
            </a:r>
            <a:r>
              <a:rPr lang="en-US" sz="1200" dirty="0">
                <a:effectLst/>
                <a:latin typeface="NimbusRomNo9L"/>
              </a:rPr>
              <a:t>[4]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9936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F72C-65BD-BB3D-8162-EFDC43B20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8925-CD7C-CE39-33A9-BDC7F7914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Beam Formulas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7AA49-9F5A-526F-4225-BEAC60DA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A8CA7F31-94E5-EBC1-1825-0CB08BCE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8FD391-60AB-758D-76CF-9A9926EE4E84}"/>
              </a:ext>
            </a:extLst>
          </p:cNvPr>
          <p:cNvSpPr txBox="1"/>
          <p:nvPr/>
        </p:nvSpPr>
        <p:spPr>
          <a:xfrm>
            <a:off x="838200" y="1705293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Journal claims beamwidth of 13 degrees in Az, 3.1 degrees in El for 5x1</a:t>
            </a:r>
          </a:p>
          <a:p>
            <a:r>
              <a:rPr lang="en-US" dirty="0"/>
              <a:t>claim 2.53 degrees for 5x5 design, approximately 1 degree for an ~10,000 element array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17BBF-0ACE-7598-BA98-702167516D3A}"/>
              </a:ext>
            </a:extLst>
          </p:cNvPr>
          <p:cNvSpPr txBox="1"/>
          <p:nvPr/>
        </p:nvSpPr>
        <p:spPr>
          <a:xfrm>
            <a:off x="1465657" y="2882027"/>
            <a:ext cx="236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Element Beampattern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F02444-B513-A38C-D0D1-B071B8DB3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77" y="3350578"/>
            <a:ext cx="2743200" cy="431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120BF62-5415-AD25-7AE1-A8873EC57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77" y="4032984"/>
            <a:ext cx="1689100" cy="3937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E85988B-A2BD-AFD2-B98E-E89221AA0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77" y="4677290"/>
            <a:ext cx="800100" cy="355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C85BE1-447A-B0BA-926A-941D93A1A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77" y="4639190"/>
            <a:ext cx="1193800" cy="393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114B1C-5E33-CAAF-094F-EDBB9BB57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927" y="5090576"/>
            <a:ext cx="2032000" cy="4953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24A3F38-879A-6039-C61B-E411BFB79915}"/>
              </a:ext>
            </a:extLst>
          </p:cNvPr>
          <p:cNvSpPr txBox="1"/>
          <p:nvPr/>
        </p:nvSpPr>
        <p:spPr>
          <a:xfrm>
            <a:off x="6560743" y="2882027"/>
            <a:ext cx="2049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 Beampattern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F7F9B2-4640-8FF2-6889-EEC6EF010F3B}"/>
              </a:ext>
            </a:extLst>
          </p:cNvPr>
          <p:cNvSpPr txBox="1"/>
          <p:nvPr/>
        </p:nvSpPr>
        <p:spPr>
          <a:xfrm>
            <a:off x="4074314" y="5825946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effectLst/>
                <a:latin typeface="NimbusRomNo9L"/>
              </a:rPr>
              <a:t>Blahut</a:t>
            </a:r>
            <a:r>
              <a:rPr lang="en-US" sz="1800" dirty="0">
                <a:effectLst/>
                <a:latin typeface="NimbusRomNo9L"/>
              </a:rPr>
              <a:t>[7], pg. 154-161</a:t>
            </a:r>
            <a:endParaRPr lang="en-US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33B6214-3582-6376-3346-95C233DFAB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743" y="3484224"/>
            <a:ext cx="3530600" cy="342900"/>
          </a:xfrm>
          <a:prstGeom prst="rect">
            <a:avLst/>
          </a:prstGeom>
        </p:spPr>
      </p:pic>
      <p:pic>
        <p:nvPicPr>
          <p:cNvPr id="44" name="Picture 43" descr="A mathematical equations with numbers&#10;&#10;Description automatically generated with medium confidence">
            <a:extLst>
              <a:ext uri="{FF2B5EF4-FFF2-40B4-BE49-F238E27FC236}">
                <a16:creationId xmlns:a16="http://schemas.microsoft.com/office/drawing/2014/main" id="{11A5AD9A-8A62-6648-A97B-2B6DB2F552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0743" y="4102278"/>
            <a:ext cx="2551874" cy="988298"/>
          </a:xfrm>
          <a:prstGeom prst="rect">
            <a:avLst/>
          </a:prstGeom>
        </p:spPr>
      </p:pic>
      <p:pic>
        <p:nvPicPr>
          <p:cNvPr id="46" name="Picture 45" descr="A math equation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A073CD3E-F6A5-036B-188B-AB0434F0FA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0743" y="5152707"/>
            <a:ext cx="39116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24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78EF-75DA-F6FD-7F14-D40E24AE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flame&#10;&#10;Description automatically generated with medium confidence">
            <a:extLst>
              <a:ext uri="{FF2B5EF4-FFF2-40B4-BE49-F238E27FC236}">
                <a16:creationId xmlns:a16="http://schemas.microsoft.com/office/drawing/2014/main" id="{EE69DE63-D575-4851-0E0E-5BA2DEE8E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277235"/>
            <a:ext cx="3513471" cy="34442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1A428C-B891-8A7A-394D-247CE75B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Confirming 5 x 1 via Simulation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6F43A-5226-D367-C6E3-F741EC0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36A180E3-E1C9-B80A-D562-17C8FD7A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10" name="Picture 9" descr="A graph of a plane and a magnifying glass&#10;&#10;Description automatically generated">
            <a:extLst>
              <a:ext uri="{FF2B5EF4-FFF2-40B4-BE49-F238E27FC236}">
                <a16:creationId xmlns:a16="http://schemas.microsoft.com/office/drawing/2014/main" id="{7FD5C905-BB12-A743-EA85-6D27E2F14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3" y="3414078"/>
            <a:ext cx="6070435" cy="3263674"/>
          </a:xfrm>
          <a:prstGeom prst="rect">
            <a:avLst/>
          </a:prstGeom>
        </p:spPr>
      </p:pic>
      <p:pic>
        <p:nvPicPr>
          <p:cNvPr id="9" name="Picture 8" descr="A diagram of a flower&#10;&#10;Description automatically generated">
            <a:extLst>
              <a:ext uri="{FF2B5EF4-FFF2-40B4-BE49-F238E27FC236}">
                <a16:creationId xmlns:a16="http://schemas.microsoft.com/office/drawing/2014/main" id="{EB4DD3C3-5B1E-9A59-5707-A955EB01A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10" y="3277235"/>
            <a:ext cx="4040190" cy="3444240"/>
          </a:xfrm>
          <a:prstGeom prst="rect">
            <a:avLst/>
          </a:prstGeom>
        </p:spPr>
      </p:pic>
      <p:pic>
        <p:nvPicPr>
          <p:cNvPr id="16" name="Content Placeholder 15" descr="A grid of orange dots&#10;&#10;Description automatically generated">
            <a:extLst>
              <a:ext uri="{FF2B5EF4-FFF2-40B4-BE49-F238E27FC236}">
                <a16:creationId xmlns:a16="http://schemas.microsoft.com/office/drawing/2014/main" id="{AE25F044-27B3-D17F-FF54-657323738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303746" y="1479837"/>
            <a:ext cx="1806591" cy="1797398"/>
          </a:xfr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DB7C5CE-9C4F-213B-CD9B-C06B6827BDC9}"/>
              </a:ext>
            </a:extLst>
          </p:cNvPr>
          <p:cNvSpPr/>
          <p:nvPr/>
        </p:nvSpPr>
        <p:spPr>
          <a:xfrm rot="16200000">
            <a:off x="1387147" y="2142950"/>
            <a:ext cx="2164080" cy="471171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AC949D-994C-7AF5-DBF0-B49956E9A362}"/>
              </a:ext>
            </a:extLst>
          </p:cNvPr>
          <p:cNvSpPr txBox="1"/>
          <p:nvPr/>
        </p:nvSpPr>
        <p:spPr>
          <a:xfrm>
            <a:off x="5120640" y="2270760"/>
            <a:ext cx="4266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Claim: 13 degrees in Az, 3.1 degrees in El </a:t>
            </a:r>
          </a:p>
        </p:txBody>
      </p:sp>
    </p:spTree>
    <p:extLst>
      <p:ext uri="{BB962C8B-B14F-4D97-AF65-F5344CB8AC3E}">
        <p14:creationId xmlns:p14="http://schemas.microsoft.com/office/powerpoint/2010/main" val="1997695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AC06-E2D9-7AF1-9EE5-C3396517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67DA449-402C-2416-8CD7-4860627FE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039B1-0D45-CF19-DA0A-BDED58C6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Confirming 5 x 5 via Simulation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AB4B6-24F4-1B82-8EF4-A48E1CF0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996839F1-33E4-1433-1737-B17E06FCC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11" name="Picture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2CEF07C1-6FD8-1307-B10D-615697F3A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65" y="3166269"/>
            <a:ext cx="3489269" cy="3298190"/>
          </a:xfrm>
          <a:prstGeom prst="rect">
            <a:avLst/>
          </a:prstGeom>
        </p:spPr>
      </p:pic>
      <p:pic>
        <p:nvPicPr>
          <p:cNvPr id="25" name="Content Placeholder 21" descr="A graph of a graph of a plane&#10;&#10;Description automatically generated with medium confidence">
            <a:extLst>
              <a:ext uri="{FF2B5EF4-FFF2-40B4-BE49-F238E27FC236}">
                <a16:creationId xmlns:a16="http://schemas.microsoft.com/office/drawing/2014/main" id="{E4B753BA-8BD1-0DCC-F488-38FCBDFF8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6" y="3277235"/>
            <a:ext cx="6389064" cy="3444240"/>
          </a:xfrm>
          <a:prstGeom prst="rect">
            <a:avLst/>
          </a:prstGeom>
        </p:spPr>
      </p:pic>
      <p:pic>
        <p:nvPicPr>
          <p:cNvPr id="9" name="Picture 8" descr="A diagram of a power line&#10;&#10;Description automatically generated with medium confidence">
            <a:extLst>
              <a:ext uri="{FF2B5EF4-FFF2-40B4-BE49-F238E27FC236}">
                <a16:creationId xmlns:a16="http://schemas.microsoft.com/office/drawing/2014/main" id="{A1DB7345-4835-EA50-1C90-D38677A8A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085" y="3151029"/>
            <a:ext cx="3413915" cy="3298190"/>
          </a:xfrm>
          <a:prstGeom prst="rect">
            <a:avLst/>
          </a:prstGeom>
        </p:spPr>
      </p:pic>
      <p:pic>
        <p:nvPicPr>
          <p:cNvPr id="26" name="Content Placeholder 15" descr="A grid of orange dots&#10;&#10;Description automatically generated">
            <a:extLst>
              <a:ext uri="{FF2B5EF4-FFF2-40B4-BE49-F238E27FC236}">
                <a16:creationId xmlns:a16="http://schemas.microsoft.com/office/drawing/2014/main" id="{3B28A5B7-C061-F7DC-35CC-B09E5129C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4408" y="1411416"/>
            <a:ext cx="1806591" cy="179739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627171F-AF05-D206-9890-5C43B27A27DB}"/>
              </a:ext>
            </a:extLst>
          </p:cNvPr>
          <p:cNvSpPr/>
          <p:nvPr/>
        </p:nvSpPr>
        <p:spPr>
          <a:xfrm>
            <a:off x="2205663" y="1326803"/>
            <a:ext cx="2164080" cy="1950432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EDA60F-2106-C9EE-D901-9A6835E1F293}"/>
              </a:ext>
            </a:extLst>
          </p:cNvPr>
          <p:cNvSpPr txBox="1"/>
          <p:nvPr/>
        </p:nvSpPr>
        <p:spPr>
          <a:xfrm>
            <a:off x="5120640" y="2270760"/>
            <a:ext cx="4579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Claim: 2.53 degrees in Az, 2.53 degrees in El </a:t>
            </a:r>
          </a:p>
        </p:txBody>
      </p:sp>
    </p:spTree>
    <p:extLst>
      <p:ext uri="{BB962C8B-B14F-4D97-AF65-F5344CB8AC3E}">
        <p14:creationId xmlns:p14="http://schemas.microsoft.com/office/powerpoint/2010/main" val="3806959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4176B-CA83-05A3-0CA9-5ADEC5DD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F2DD-094A-D09A-92FB-834F0E3B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Confirming 10,000 Elements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51509-2C06-CD53-7C63-D5714D70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7A9D7BEF-9D52-882F-3FA4-187C6A2E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15" name="Picture 14" descr="A diagram of a graph&#10;&#10;Description automatically generated">
            <a:extLst>
              <a:ext uri="{FF2B5EF4-FFF2-40B4-BE49-F238E27FC236}">
                <a16:creationId xmlns:a16="http://schemas.microsoft.com/office/drawing/2014/main" id="{EC0C9EE6-0E4D-1640-F217-41EAA1815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2878773"/>
            <a:ext cx="3707639" cy="3576162"/>
          </a:xfrm>
          <a:prstGeom prst="rect">
            <a:avLst/>
          </a:prstGeom>
        </p:spPr>
      </p:pic>
      <p:pic>
        <p:nvPicPr>
          <p:cNvPr id="19" name="Picture 18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8D65F8BD-4112-B8F6-BA23-9C6AC9139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3" y="3123883"/>
            <a:ext cx="6126865" cy="3368992"/>
          </a:xfrm>
          <a:prstGeom prst="rect">
            <a:avLst/>
          </a:prstGeom>
        </p:spPr>
      </p:pic>
      <p:pic>
        <p:nvPicPr>
          <p:cNvPr id="10" name="Content Placeholder 9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EB0A9323-C050-26A7-9E8D-5D3AC88F3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328935" y="2878773"/>
            <a:ext cx="3707639" cy="3576162"/>
          </a:xfrm>
        </p:spPr>
      </p:pic>
      <p:pic>
        <p:nvPicPr>
          <p:cNvPr id="23" name="Picture 22" descr="A grid with orange dots&#10;&#10;Description automatically generated">
            <a:extLst>
              <a:ext uri="{FF2B5EF4-FFF2-40B4-BE49-F238E27FC236}">
                <a16:creationId xmlns:a16="http://schemas.microsoft.com/office/drawing/2014/main" id="{C01F3AE7-83C9-3A0C-9F3B-7F432195C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486" y="1372290"/>
            <a:ext cx="1751593" cy="175159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928CF55-40F0-2A75-CFEE-ECBBE1DCC986}"/>
              </a:ext>
            </a:extLst>
          </p:cNvPr>
          <p:cNvSpPr/>
          <p:nvPr/>
        </p:nvSpPr>
        <p:spPr>
          <a:xfrm>
            <a:off x="2183639" y="1272870"/>
            <a:ext cx="2164080" cy="1950432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E5196C-F337-9C33-A3A3-BE96F9329AFB}"/>
              </a:ext>
            </a:extLst>
          </p:cNvPr>
          <p:cNvSpPr txBox="1"/>
          <p:nvPr/>
        </p:nvSpPr>
        <p:spPr>
          <a:xfrm>
            <a:off x="5120640" y="2270760"/>
            <a:ext cx="408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Claim: ~1 degree in Az, ~1 degree in El </a:t>
            </a:r>
          </a:p>
        </p:txBody>
      </p:sp>
    </p:spTree>
    <p:extLst>
      <p:ext uri="{BB962C8B-B14F-4D97-AF65-F5344CB8AC3E}">
        <p14:creationId xmlns:p14="http://schemas.microsoft.com/office/powerpoint/2010/main" val="3927407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96198-9289-9363-1107-D88885EF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FAA-4CF8-8FF2-122C-B45D72AF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Antenna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C3D25-BCD0-E9E0-AF4F-8C0B2C287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antenna gain should compared to WSR-88D, which is 48 dB and radius of 4.2 m or area of 55.43 sq. m</a:t>
            </a: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 wavelength of 0.1 m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of 37.15 and 45.1 dB respectively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F3E1C-DED7-D4B0-290F-827D8BB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15E94043-B32B-98B9-5C37-D82F5BF7A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5AEC6B3-5080-499E-99E9-120CF2D62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84399"/>
            <a:ext cx="2863034" cy="664633"/>
          </a:xfrm>
          <a:prstGeom prst="rect">
            <a:avLst/>
          </a:prstGeom>
        </p:spPr>
      </p:pic>
      <p:pic>
        <p:nvPicPr>
          <p:cNvPr id="9" name="Content Placeholder 15" descr="A grid of orange dots&#10;&#10;Description automatically generated">
            <a:extLst>
              <a:ext uri="{FF2B5EF4-FFF2-40B4-BE49-F238E27FC236}">
                <a16:creationId xmlns:a16="http://schemas.microsoft.com/office/drawing/2014/main" id="{96AC78FF-56B9-759D-553C-A0C698699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788" y="4509940"/>
            <a:ext cx="1806591" cy="1797398"/>
          </a:xfrm>
          <a:prstGeom prst="rect">
            <a:avLst/>
          </a:prstGeom>
        </p:spPr>
      </p:pic>
      <p:pic>
        <p:nvPicPr>
          <p:cNvPr id="10" name="Picture 9" descr="A grid with orange dots&#10;&#10;Description automatically generated">
            <a:extLst>
              <a:ext uri="{FF2B5EF4-FFF2-40B4-BE49-F238E27FC236}">
                <a16:creationId xmlns:a16="http://schemas.microsoft.com/office/drawing/2014/main" id="{2124143B-5594-CA84-7ABB-6EC7F7FE7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212" y="3702887"/>
            <a:ext cx="3074368" cy="30743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71759C-FC06-A2D9-72CA-EAEAF76C09FA}"/>
              </a:ext>
            </a:extLst>
          </p:cNvPr>
          <p:cNvSpPr txBox="1"/>
          <p:nvPr/>
        </p:nvSpPr>
        <p:spPr>
          <a:xfrm>
            <a:off x="6518212" y="3143102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10,000 element case, A = 25.756 sq. m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4F681-B710-1726-71E5-51E1E6E97A97}"/>
              </a:ext>
            </a:extLst>
          </p:cNvPr>
          <p:cNvSpPr txBox="1"/>
          <p:nvPr/>
        </p:nvSpPr>
        <p:spPr>
          <a:xfrm>
            <a:off x="1332996" y="3789433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1,600 element case, A = 4.12 sq. m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49A5B6-129E-5E3F-4D93-71D052D430E1}"/>
              </a:ext>
            </a:extLst>
          </p:cNvPr>
          <p:cNvSpPr txBox="1"/>
          <p:nvPr/>
        </p:nvSpPr>
        <p:spPr>
          <a:xfrm>
            <a:off x="3670379" y="2503142"/>
            <a:ext cx="1383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effectLst/>
              </a:rPr>
              <a:t>Mahafza</a:t>
            </a:r>
            <a:r>
              <a:rPr lang="en-US" sz="1200" dirty="0">
                <a:effectLst/>
              </a:rPr>
              <a:t> [9], </a:t>
            </a:r>
            <a:r>
              <a:rPr lang="en-US" sz="1200" dirty="0" err="1">
                <a:effectLst/>
              </a:rPr>
              <a:t>sh</a:t>
            </a:r>
            <a:r>
              <a:rPr lang="en-US" sz="1200" dirty="0">
                <a:effectLst/>
              </a:rPr>
              <a:t> 38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75668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D50C-FFB8-E23C-F74B-70B23715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truck with a light source&#10;&#10;Description automatically generated with medium confidence">
            <a:extLst>
              <a:ext uri="{FF2B5EF4-FFF2-40B4-BE49-F238E27FC236}">
                <a16:creationId xmlns:a16="http://schemas.microsoft.com/office/drawing/2014/main" id="{F03F9519-6D65-37AB-FC5E-0B0DFCD44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660" y="1522891"/>
            <a:ext cx="7531100" cy="4889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E213C7-ADB6-0B80-4E92-6A8A6AC3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Scanning Modes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806BD-ECD0-6990-7000-42E3271A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7E190BF4-793B-A9F6-9F02-0D13C8B78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BD712-A90C-802F-F72D-A8DD3BBAA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Position Indicator (PPI)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 Height Indicator (RHI)</a:t>
            </a: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Beamforming (DBF)</a:t>
            </a: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0FEED-8F04-2DB8-C426-BF3A7FF6F685}"/>
              </a:ext>
            </a:extLst>
          </p:cNvPr>
          <p:cNvSpPr txBox="1"/>
          <p:nvPr/>
        </p:nvSpPr>
        <p:spPr>
          <a:xfrm>
            <a:off x="2740660" y="6412391"/>
            <a:ext cx="6189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</a:rPr>
              <a:t>Advanced weather surveillance capabilities of the fully Digital Horus Phased Array Radar</a:t>
            </a:r>
            <a:r>
              <a:rPr lang="en-US" sz="1200" dirty="0">
                <a:effectLst/>
                <a:latin typeface="NimbusRomNo9L"/>
              </a:rPr>
              <a:t>[8]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37614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FDBAC-4B6F-E2E4-B3F3-62DD15D6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B809-07CE-802E-ADF9-551F7C5A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“Spoiling” (Broadening)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347-0ADC-C3B5-C716-F935107E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822018DB-4D80-1813-EBF9-7DF8C75FF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8" name="Picture 7" descr="A black text with blue letters&#10;&#10;Description automatically generated with medium confidence">
            <a:extLst>
              <a:ext uri="{FF2B5EF4-FFF2-40B4-BE49-F238E27FC236}">
                <a16:creationId xmlns:a16="http://schemas.microsoft.com/office/drawing/2014/main" id="{0060E62D-370D-DFDB-A68B-B55901055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606" y="1127772"/>
            <a:ext cx="1930400" cy="546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93A14B-B140-2260-AD3B-3B16082849F2}"/>
              </a:ext>
            </a:extLst>
          </p:cNvPr>
          <p:cNvSpPr txBox="1"/>
          <p:nvPr/>
        </p:nvSpPr>
        <p:spPr>
          <a:xfrm>
            <a:off x="838200" y="1536462"/>
            <a:ext cx="4691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-Caused by having the beam offsets too close</a:t>
            </a:r>
          </a:p>
          <a:p>
            <a:r>
              <a:rPr lang="en-US" dirty="0"/>
              <a:t>-Additional loss term that gets carried over</a:t>
            </a:r>
          </a:p>
        </p:txBody>
      </p:sp>
      <p:pic>
        <p:nvPicPr>
          <p:cNvPr id="16" name="Content Placeholder 15" descr="A graph of a beam grid&#10;&#10;Description automatically generated">
            <a:extLst>
              <a:ext uri="{FF2B5EF4-FFF2-40B4-BE49-F238E27FC236}">
                <a16:creationId xmlns:a16="http://schemas.microsoft.com/office/drawing/2014/main" id="{83B3BB8D-7277-3110-B77D-F40E01F65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2933" y="2196433"/>
            <a:ext cx="5617600" cy="4351338"/>
          </a:xfrm>
        </p:spPr>
      </p:pic>
      <p:pic>
        <p:nvPicPr>
          <p:cNvPr id="18" name="Picture 17" descr="A graph of a graph showing a spectrum&#10;&#10;Description automatically generated with medium confidence">
            <a:extLst>
              <a:ext uri="{FF2B5EF4-FFF2-40B4-BE49-F238E27FC236}">
                <a16:creationId xmlns:a16="http://schemas.microsoft.com/office/drawing/2014/main" id="{317B6023-B2A3-7E9C-1FE4-07D8AE491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067" y="1946402"/>
            <a:ext cx="62230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3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1A924-6339-AAAE-5127-BC67C1B7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A9840-965E-AF7C-981D-8D671430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Horus Scan Times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CB302-330B-F04D-4DB2-4BC097AD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B82AD642-382C-C8DB-4FF0-399E14861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7" name="Content Placeholder 6" descr="A table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2E080FF9-881E-EC26-B43F-A6D54837E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1250" y="2218214"/>
            <a:ext cx="7429500" cy="39624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1F06B4-5946-0FF7-424B-7092E97F2724}"/>
              </a:ext>
            </a:extLst>
          </p:cNvPr>
          <p:cNvSpPr txBox="1"/>
          <p:nvPr/>
        </p:nvSpPr>
        <p:spPr>
          <a:xfrm>
            <a:off x="2381250" y="6338748"/>
            <a:ext cx="6189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</a:rPr>
              <a:t>Advanced weather surveillance capabilities of the fully Digital Horus Phased Array Radar</a:t>
            </a:r>
            <a:r>
              <a:rPr lang="en-US" sz="1200" dirty="0">
                <a:effectLst/>
                <a:latin typeface="NimbusRomNo9L"/>
              </a:rPr>
              <a:t>[8]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54695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4E3F-A020-ABE9-0D47-660BF1106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colorful image&#10;&#10;Description automatically generated">
            <a:extLst>
              <a:ext uri="{FF2B5EF4-FFF2-40B4-BE49-F238E27FC236}">
                <a16:creationId xmlns:a16="http://schemas.microsoft.com/office/drawing/2014/main" id="{A44BFB6E-ADD6-CACA-1D15-4AA31543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133" y="3887952"/>
            <a:ext cx="6896100" cy="19648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CDFF09-D83B-0829-F4DD-13F26A78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217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Journal Data results</a:t>
            </a:r>
            <a:endParaRPr lang="en-US" sz="4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19C27-2FFB-8B98-CCE8-98681385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5443A07E-B2EA-7B7F-1FEC-33063F6E1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18" name="Picture 17" descr="A colorful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A45C867-1E94-782F-5228-A0C5F0FC1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63" y="2723201"/>
            <a:ext cx="3314700" cy="1231900"/>
          </a:xfrm>
          <a:prstGeom prst="rect">
            <a:avLst/>
          </a:prstGeom>
        </p:spPr>
      </p:pic>
      <p:pic>
        <p:nvPicPr>
          <p:cNvPr id="20" name="Picture 19" descr="A green graph with white text&#10;&#10;Description automatically generated">
            <a:extLst>
              <a:ext uri="{FF2B5EF4-FFF2-40B4-BE49-F238E27FC236}">
                <a16:creationId xmlns:a16="http://schemas.microsoft.com/office/drawing/2014/main" id="{7A8D9095-66A7-F6FD-AC0B-846438E12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496" y="2749129"/>
            <a:ext cx="3238500" cy="1219200"/>
          </a:xfrm>
          <a:prstGeom prst="rect">
            <a:avLst/>
          </a:prstGeom>
        </p:spPr>
      </p:pic>
      <p:pic>
        <p:nvPicPr>
          <p:cNvPr id="22" name="Picture 21" descr="A graph of a mountain range&#10;&#10;Description automatically generated with medium confidence">
            <a:extLst>
              <a:ext uri="{FF2B5EF4-FFF2-40B4-BE49-F238E27FC236}">
                <a16:creationId xmlns:a16="http://schemas.microsoft.com/office/drawing/2014/main" id="{DC7CFE44-AA39-DEFC-4910-BC7C6D4D65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0929" y="2615515"/>
            <a:ext cx="3187700" cy="1231900"/>
          </a:xfrm>
          <a:prstGeom prst="rect">
            <a:avLst/>
          </a:prstGeom>
        </p:spPr>
      </p:pic>
      <p:pic>
        <p:nvPicPr>
          <p:cNvPr id="26" name="Content Placeholder 25" descr="A map of a green and red land&#10;&#10;Description automatically generated with medium confidence">
            <a:extLst>
              <a:ext uri="{FF2B5EF4-FFF2-40B4-BE49-F238E27FC236}">
                <a16:creationId xmlns:a16="http://schemas.microsoft.com/office/drawing/2014/main" id="{5A6046C0-AC6B-1F5B-E34B-E9637DBB7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2260600" y="800502"/>
            <a:ext cx="6896100" cy="1917700"/>
          </a:xfrm>
        </p:spPr>
      </p:pic>
      <p:pic>
        <p:nvPicPr>
          <p:cNvPr id="28" name="Picture 27" descr="A diagram of a blue and yellow line&#10;&#10;Description automatically generated with medium confidence">
            <a:extLst>
              <a:ext uri="{FF2B5EF4-FFF2-40B4-BE49-F238E27FC236}">
                <a16:creationId xmlns:a16="http://schemas.microsoft.com/office/drawing/2014/main" id="{69B72252-5CC7-F3C3-7510-6B41D476B4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4463" y="5691315"/>
            <a:ext cx="3149600" cy="1206500"/>
          </a:xfrm>
          <a:prstGeom prst="rect">
            <a:avLst/>
          </a:prstGeom>
        </p:spPr>
      </p:pic>
      <p:pic>
        <p:nvPicPr>
          <p:cNvPr id="30" name="Picture 29" descr="A red and blue gradient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6A5FB24A-D36F-3334-D1F4-C2BBDD08B9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9163" y="5653215"/>
            <a:ext cx="3175000" cy="1244600"/>
          </a:xfrm>
          <a:prstGeom prst="rect">
            <a:avLst/>
          </a:prstGeom>
        </p:spPr>
      </p:pic>
      <p:pic>
        <p:nvPicPr>
          <p:cNvPr id="32" name="Picture 31" descr="A red and pink graph&#10;&#10;Description automatically generated">
            <a:extLst>
              <a:ext uri="{FF2B5EF4-FFF2-40B4-BE49-F238E27FC236}">
                <a16:creationId xmlns:a16="http://schemas.microsoft.com/office/drawing/2014/main" id="{52A96A86-D05B-1A07-5835-B120A7684A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1896" y="5689600"/>
            <a:ext cx="3162300" cy="1168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7CF97C3-B2AB-3B20-B522-36F5AF21B028}"/>
              </a:ext>
            </a:extLst>
          </p:cNvPr>
          <p:cNvSpPr txBox="1"/>
          <p:nvPr/>
        </p:nvSpPr>
        <p:spPr>
          <a:xfrm>
            <a:off x="558800" y="1759352"/>
            <a:ext cx="1142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WSR-88D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E76834-309D-761B-FF1B-7DA4801EA6CF}"/>
              </a:ext>
            </a:extLst>
          </p:cNvPr>
          <p:cNvSpPr txBox="1"/>
          <p:nvPr/>
        </p:nvSpPr>
        <p:spPr>
          <a:xfrm>
            <a:off x="558800" y="4657644"/>
            <a:ext cx="1142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WSR-88D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A0211A-448E-F0D1-477C-6962387CE41A}"/>
              </a:ext>
            </a:extLst>
          </p:cNvPr>
          <p:cNvSpPr txBox="1"/>
          <p:nvPr/>
        </p:nvSpPr>
        <p:spPr>
          <a:xfrm>
            <a:off x="71778" y="3059668"/>
            <a:ext cx="1066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20% PAR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32B716-B53C-AE6C-5EC6-3AA8A75CCD1C}"/>
              </a:ext>
            </a:extLst>
          </p:cNvPr>
          <p:cNvSpPr txBox="1"/>
          <p:nvPr/>
        </p:nvSpPr>
        <p:spPr>
          <a:xfrm>
            <a:off x="64081" y="5850905"/>
            <a:ext cx="1066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20% PAR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F11AF5-621B-6A08-0319-E689273491E0}"/>
              </a:ext>
            </a:extLst>
          </p:cNvPr>
          <p:cNvSpPr txBox="1"/>
          <p:nvPr/>
        </p:nvSpPr>
        <p:spPr>
          <a:xfrm>
            <a:off x="9478212" y="1404418"/>
            <a:ext cx="17652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Reflectivity</a:t>
            </a:r>
          </a:p>
          <a:p>
            <a:r>
              <a:rPr lang="en-US" dirty="0"/>
              <a:t>Doppler Vel</a:t>
            </a:r>
          </a:p>
          <a:p>
            <a:r>
              <a:rPr lang="en-US" dirty="0"/>
              <a:t>Spectrum width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E0BB04-9A26-3BDB-96CE-BD11D9642C47}"/>
              </a:ext>
            </a:extLst>
          </p:cNvPr>
          <p:cNvSpPr txBox="1"/>
          <p:nvPr/>
        </p:nvSpPr>
        <p:spPr>
          <a:xfrm>
            <a:off x="9478212" y="4375018"/>
            <a:ext cx="24172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reflectivity</a:t>
            </a:r>
          </a:p>
          <a:p>
            <a:r>
              <a:rPr lang="en-US" dirty="0"/>
              <a:t>Differential phase</a:t>
            </a:r>
          </a:p>
          <a:p>
            <a:r>
              <a:rPr lang="en-US" dirty="0"/>
              <a:t>Correlation coefficient</a:t>
            </a:r>
          </a:p>
        </p:txBody>
      </p:sp>
    </p:spTree>
    <p:extLst>
      <p:ext uri="{BB962C8B-B14F-4D97-AF65-F5344CB8AC3E}">
        <p14:creationId xmlns:p14="http://schemas.microsoft.com/office/powerpoint/2010/main" val="4128159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0887-27C2-A72E-6D9E-18FE05FD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CC1E-796E-F09E-A29B-41A56F8B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D7CED-3FBD-0DF1-9E45-44672F34B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Fully-digital, dual-polarization, software-defined radar of this class has all the potential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Why?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At the proper scale, they offer competitive radar specifications that are in par to the latest WSD-88D radars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The ability to digitally beamform and digitally control beams is a major benefit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Very easy to scale and incredibly modular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 The government will pay</a:t>
            </a: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9F9C-283F-5E59-D3B6-679A2417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CF049F98-C8DB-D7C4-B060-C169EF2AD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14" name="Picture 1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7A06EDF5-9AFB-C34A-EC5A-FAD91AD04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957" y="3755496"/>
            <a:ext cx="7486085" cy="242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01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892E1-215F-24EB-8FB8-9C157E2A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1CEF-212E-C602-D93A-8D068C7B3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92C44-90E2-A802-5712-5759A5497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000" dirty="0">
                <a:effectLst/>
              </a:rPr>
              <a:t>Whiton, Roger C., et al. “History of operational use of weather radar by U.S. Weather Services. part I: The pre-NEXRAD era.” </a:t>
            </a:r>
            <a:r>
              <a:rPr lang="en-US" sz="1000" i="1" dirty="0">
                <a:effectLst/>
              </a:rPr>
              <a:t>Weather and Forecasting</a:t>
            </a:r>
            <a:r>
              <a:rPr lang="en-US" sz="1000" dirty="0">
                <a:effectLst/>
              </a:rPr>
              <a:t>, vol. 13, no. 2, June 1998, pp. 219–243, https://</a:t>
            </a:r>
            <a:r>
              <a:rPr lang="en-US" sz="1000" dirty="0" err="1">
                <a:effectLst/>
              </a:rPr>
              <a:t>doi.org</a:t>
            </a:r>
            <a:r>
              <a:rPr lang="en-US" sz="1000" dirty="0">
                <a:effectLst/>
              </a:rPr>
              <a:t>/10.1175/1520-0434(1998)013&amp;lt;0219:hoouow&amp;gt;2.0.co;2.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000" i="1" dirty="0">
                <a:effectLst/>
              </a:rPr>
              <a:t>[PDF] the History of the First Twenty-Five Years of Radar Meteorology in the United Kingdom | Semantic Scholar</a:t>
            </a:r>
            <a:r>
              <a:rPr lang="en-US" sz="1000" dirty="0">
                <a:effectLst/>
              </a:rPr>
              <a:t>, </a:t>
            </a:r>
            <a:r>
              <a:rPr lang="en-US" sz="1000" dirty="0" err="1">
                <a:effectLst/>
              </a:rPr>
              <a:t>www.semanticscholar.org</a:t>
            </a:r>
            <a:r>
              <a:rPr lang="en-US" sz="1000" dirty="0">
                <a:effectLst/>
              </a:rPr>
              <a:t>/paper/THE-HISTORY-OF-THE-FIRST-TWENTY-FIVE-YEARS-OF-RADAR-Probert-Jones/7f6ac819caaa86a99034620a074d9177882cdda6. Accessed 28 Apr. 2026.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000" dirty="0">
                <a:effectLst/>
              </a:rPr>
              <a:t>Bent, Arthur E. “Radar detection of precipitation.” </a:t>
            </a:r>
            <a:r>
              <a:rPr lang="en-US" sz="1000" i="1" dirty="0">
                <a:effectLst/>
              </a:rPr>
              <a:t>Weather</a:t>
            </a:r>
            <a:r>
              <a:rPr lang="en-US" sz="1000" dirty="0">
                <a:effectLst/>
              </a:rPr>
              <a:t>, vol. 3, no. 2, Feb. 1948, pp. 37–41, https://</a:t>
            </a:r>
            <a:r>
              <a:rPr lang="en-US" sz="1000" dirty="0" err="1">
                <a:effectLst/>
              </a:rPr>
              <a:t>doi.org</a:t>
            </a:r>
            <a:r>
              <a:rPr lang="en-US" sz="1000" dirty="0">
                <a:effectLst/>
              </a:rPr>
              <a:t>/10.1002/j.1477-8696.1948.tb06717.x.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000" dirty="0">
                <a:effectLst/>
              </a:rPr>
              <a:t>Palmer, Robert D., et al. “Horus—a fully digital polarimetric phased array radar for next-generation weather observations.” </a:t>
            </a:r>
            <a:r>
              <a:rPr lang="en-US" sz="1000" i="1" dirty="0">
                <a:effectLst/>
              </a:rPr>
              <a:t>IEEE Transactions on Radar Systems</a:t>
            </a:r>
            <a:r>
              <a:rPr lang="en-US" sz="1000" dirty="0">
                <a:effectLst/>
              </a:rPr>
              <a:t>, vol. 1, 2023, pp. 96–117, https://</a:t>
            </a:r>
            <a:r>
              <a:rPr lang="en-US" sz="1000" dirty="0" err="1">
                <a:effectLst/>
              </a:rPr>
              <a:t>doi.org</a:t>
            </a:r>
            <a:r>
              <a:rPr lang="en-US" sz="1000" dirty="0">
                <a:effectLst/>
              </a:rPr>
              <a:t>/10.1109/trs.2023.3280033.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1000" dirty="0" err="1">
                <a:effectLst/>
              </a:rPr>
              <a:t>Deirmendjian</a:t>
            </a:r>
            <a:r>
              <a:rPr lang="en-US" sz="1000" dirty="0">
                <a:effectLst/>
              </a:rPr>
              <a:t>, D. “Far-infrared and submillimeter wave attenuation by clouds and rain.” </a:t>
            </a:r>
            <a:r>
              <a:rPr lang="en-US" sz="1000" i="1" dirty="0">
                <a:effectLst/>
              </a:rPr>
              <a:t>Journal of Applied Meteorology</a:t>
            </a:r>
            <a:r>
              <a:rPr lang="en-US" sz="1000" dirty="0">
                <a:effectLst/>
              </a:rPr>
              <a:t>, vol. 14, no. 8, Dec. 1975, pp. 1584–1593, https://</a:t>
            </a:r>
            <a:r>
              <a:rPr lang="en-US" sz="1000" dirty="0" err="1">
                <a:effectLst/>
              </a:rPr>
              <a:t>doi.org</a:t>
            </a:r>
            <a:r>
              <a:rPr lang="en-US" sz="1000" dirty="0">
                <a:effectLst/>
              </a:rPr>
              <a:t>/10.1175/1520-0450(1975)014&amp;lt;1584:fiaswa&amp;gt;2.0.co;2.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1000" dirty="0" err="1">
                <a:effectLst/>
              </a:rPr>
              <a:t>Joshil</a:t>
            </a:r>
            <a:r>
              <a:rPr lang="en-US" sz="1000" dirty="0">
                <a:effectLst/>
              </a:rPr>
              <a:t>, Shashank S., and V. Chandrasekar. “Attenuation correction in weather radars for snow.” </a:t>
            </a:r>
            <a:r>
              <a:rPr lang="en-US" sz="1000" i="1" dirty="0">
                <a:effectLst/>
              </a:rPr>
              <a:t>IEEE Transactions on Geoscience and Remote Sensing</a:t>
            </a:r>
            <a:r>
              <a:rPr lang="en-US" sz="1000" dirty="0">
                <a:effectLst/>
              </a:rPr>
              <a:t>, vol. 61, 2023, pp. 1–14, https://</a:t>
            </a:r>
            <a:r>
              <a:rPr lang="en-US" sz="1000" dirty="0" err="1">
                <a:effectLst/>
              </a:rPr>
              <a:t>doi.org</a:t>
            </a:r>
            <a:r>
              <a:rPr lang="en-US" sz="1000" dirty="0">
                <a:effectLst/>
              </a:rPr>
              <a:t>/10.1109/tgrs.2023.3254555.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000" dirty="0">
                <a:effectLst/>
              </a:rPr>
              <a:t>“Antenna Systems.” </a:t>
            </a:r>
            <a:r>
              <a:rPr lang="en-US" sz="1000" i="1" dirty="0">
                <a:effectLst/>
              </a:rPr>
              <a:t>Theory of Remote Image Formation</a:t>
            </a:r>
            <a:r>
              <a:rPr lang="en-US" sz="1000" dirty="0">
                <a:effectLst/>
              </a:rPr>
              <a:t>, 18 Nov. 2004, pp. 153–185, https://</a:t>
            </a:r>
            <a:r>
              <a:rPr lang="en-US" sz="1000" dirty="0" err="1">
                <a:effectLst/>
              </a:rPr>
              <a:t>doi.org</a:t>
            </a:r>
            <a:r>
              <a:rPr lang="en-US" sz="1000" dirty="0">
                <a:effectLst/>
              </a:rPr>
              <a:t>/10.1017/cbo9780511543418.006.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sz="1000" dirty="0" err="1">
                <a:effectLst/>
              </a:rPr>
              <a:t>Schvartzman</a:t>
            </a:r>
            <a:r>
              <a:rPr lang="en-US" sz="1000" dirty="0">
                <a:effectLst/>
              </a:rPr>
              <a:t>, David, et al. “Advanced weather surveillance capabilities of the fully Digital Horus Phased Array Radar.” </a:t>
            </a:r>
            <a:r>
              <a:rPr lang="en-US" sz="1000" i="1" dirty="0">
                <a:effectLst/>
              </a:rPr>
              <a:t>Bulletin of the American Meteorological Society</a:t>
            </a:r>
            <a:r>
              <a:rPr lang="en-US" sz="1000" dirty="0">
                <a:effectLst/>
              </a:rPr>
              <a:t>, vol. 107, no. 1, Jan. 2026, https://</a:t>
            </a:r>
            <a:r>
              <a:rPr lang="en-US" sz="1000" dirty="0" err="1">
                <a:effectLst/>
              </a:rPr>
              <a:t>doi.org</a:t>
            </a:r>
            <a:r>
              <a:rPr lang="en-US" sz="1000" dirty="0">
                <a:effectLst/>
              </a:rPr>
              <a:t>/10.1175/bams-d-24-0296.1.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US" sz="1000" dirty="0" err="1">
                <a:effectLst/>
              </a:rPr>
              <a:t>Mahafza</a:t>
            </a:r>
            <a:r>
              <a:rPr lang="en-US" sz="1000" dirty="0">
                <a:effectLst/>
              </a:rPr>
              <a:t>, Bassem R. </a:t>
            </a:r>
            <a:r>
              <a:rPr lang="en-US" sz="1000" i="1" dirty="0">
                <a:effectLst/>
              </a:rPr>
              <a:t>Radar Systems Analysis and Design Using MATLAB</a:t>
            </a:r>
            <a:r>
              <a:rPr lang="en-US" sz="1000" dirty="0">
                <a:effectLst/>
              </a:rPr>
              <a:t>. CRC Press, 2000.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432FA-DDD6-0230-06CE-62D5359F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4A1417AA-FEFE-ADC4-FB62-240903066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12744</TotalTime>
  <Words>1238</Words>
  <Application>Microsoft Macintosh PowerPoint</Application>
  <PresentationFormat>Widescreen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Georgia</vt:lpstr>
      <vt:lpstr>NimbusRomNo9L</vt:lpstr>
      <vt:lpstr>Times New Roman</vt:lpstr>
      <vt:lpstr>Office Theme</vt:lpstr>
      <vt:lpstr>Horus: A Fully-Digital Dual-Polarimetric Phased Array Radar</vt:lpstr>
      <vt:lpstr>Motivation &amp; Goals</vt:lpstr>
      <vt:lpstr>Origins of WSRs</vt:lpstr>
      <vt:lpstr>Post WWII to Present WSRs</vt:lpstr>
      <vt:lpstr>NEXRAD Network</vt:lpstr>
      <vt:lpstr>The Horus PAR</vt:lpstr>
      <vt:lpstr>Horus PAR Pros &amp; Cons</vt:lpstr>
      <vt:lpstr>Why S-band? </vt:lpstr>
      <vt:lpstr>Architecture overview</vt:lpstr>
      <vt:lpstr>Subsystem overview</vt:lpstr>
      <vt:lpstr>Beam Formulas </vt:lpstr>
      <vt:lpstr>Confirming 5 x 1 via Simulation</vt:lpstr>
      <vt:lpstr>Confirming 5 x 5 via Simulation</vt:lpstr>
      <vt:lpstr>Confirming 10,000 Elements</vt:lpstr>
      <vt:lpstr>Antenna Gain</vt:lpstr>
      <vt:lpstr>Scanning Modes</vt:lpstr>
      <vt:lpstr>“Spoiling” (Broadening)</vt:lpstr>
      <vt:lpstr>Horus Scan Times</vt:lpstr>
      <vt:lpstr>Journal Data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Lemus, Christopher</dc:creator>
  <cp:lastModifiedBy>Lemus, Christopher</cp:lastModifiedBy>
  <cp:revision>179</cp:revision>
  <dcterms:created xsi:type="dcterms:W3CDTF">2026-03-17T18:04:44Z</dcterms:created>
  <dcterms:modified xsi:type="dcterms:W3CDTF">2026-04-30T12:41:06Z</dcterms:modified>
</cp:coreProperties>
</file>